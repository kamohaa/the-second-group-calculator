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lasio"/>
      <p:regular r:id="rId17"/>
    </p:embeddedFont>
    <p:embeddedFont>
      <p:font typeface="Gelasio"/>
      <p:regular r:id="rId18"/>
    </p:embeddedFont>
    <p:embeddedFont>
      <p:font typeface="Gelasio"/>
      <p:regular r:id="rId19"/>
    </p:embeddedFont>
    <p:embeddedFont>
      <p:font typeface="Gelasio"/>
      <p:regular r:id="rId20"/>
    </p:embeddedFont>
    <p:embeddedFont>
      <p:font typeface="Lato"/>
      <p:regular r:id="rId21"/>
    </p:embeddedFont>
    <p:embeddedFont>
      <p:font typeface="Lato"/>
      <p:regular r:id="rId22"/>
    </p:embeddedFont>
    <p:embeddedFont>
      <p:font typeface="Lato"/>
      <p:regular r:id="rId23"/>
    </p:embeddedFont>
    <p:embeddedFont>
      <p:font typeface="La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Разработка мультифункционального калькулятора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Презентация семидневного проекта по созданию комплексного калькулятора с четырьмя модулями: числовые вычисления, строковые операции и длинная арифметика.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286" y="749617"/>
            <a:ext cx="4467106" cy="543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Архитектура проекта</a:t>
            </a:r>
            <a:endParaRPr lang="en-US" sz="3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286" y="1554123"/>
            <a:ext cx="2497098" cy="15432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5286" y="3271361"/>
            <a:ext cx="2174677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Главное меню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095286" y="3647480"/>
            <a:ext cx="2497098" cy="834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Центральный узел навигации между всеми модулями калькулятора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9792" y="1554123"/>
            <a:ext cx="2497098" cy="15432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09792" y="3271361"/>
            <a:ext cx="2174677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Калькулятор чисел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8809792" y="3647480"/>
            <a:ext cx="2497098" cy="834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Базовые и расширенные математические операции, тригонометрия, логика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4298" y="1554123"/>
            <a:ext cx="2497217" cy="15432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24298" y="3271361"/>
            <a:ext cx="2174677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Калькулятор строк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1524298" y="3647480"/>
            <a:ext cx="2497217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Обработка текста: операции, форматирование, статистика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286" y="4830128"/>
            <a:ext cx="2497098" cy="15432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95286" y="6547366"/>
            <a:ext cx="228290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Длинная арифметика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6095286" y="6923484"/>
            <a:ext cx="2497098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Вычисления с большими числами методом столбика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2578"/>
            <a:ext cx="8536424" cy="707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Модуль числовых вычислений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2361" y="1782842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2361" y="2137053"/>
            <a:ext cx="6409611" cy="3048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5" name="Text 3"/>
          <p:cNvSpPr/>
          <p:nvPr/>
        </p:nvSpPr>
        <p:spPr>
          <a:xfrm>
            <a:off x="792361" y="2311122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Простые операции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2361" y="2800588"/>
            <a:ext cx="6409611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Сложение, вычитание, умножение, деление с проверкой деления на ноль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309" y="1782842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309" y="2137053"/>
            <a:ext cx="6409730" cy="3048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9" name="Text 7"/>
          <p:cNvSpPr/>
          <p:nvPr/>
        </p:nvSpPr>
        <p:spPr>
          <a:xfrm>
            <a:off x="7428309" y="2311122"/>
            <a:ext cx="3234809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Расширенные функции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309" y="2800588"/>
            <a:ext cx="6409730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Возведение в степень, остаток от деления, извлечение корня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2361" y="3921323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2361" y="4275534"/>
            <a:ext cx="6409611" cy="3048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3" name="Text 11"/>
          <p:cNvSpPr/>
          <p:nvPr/>
        </p:nvSpPr>
        <p:spPr>
          <a:xfrm>
            <a:off x="792361" y="4449604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Тригонометрия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2361" y="4939070"/>
            <a:ext cx="640961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Вычисления sin и cos в градусах и радианах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309" y="3921323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309" y="4275534"/>
            <a:ext cx="6409730" cy="3048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309" y="4449604"/>
            <a:ext cx="306157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Логические операции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309" y="4939070"/>
            <a:ext cx="6409730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Булевы функции AND, OR, NOT с вводом через 0/1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2361" y="5697498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2361" y="6051709"/>
            <a:ext cx="6409611" cy="3048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21" name="Text 19"/>
          <p:cNvSpPr/>
          <p:nvPr/>
        </p:nvSpPr>
        <p:spPr>
          <a:xfrm>
            <a:off x="792361" y="6225778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Системы счисления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2361" y="6715244"/>
            <a:ext cx="6409611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Преобразование из десятичной в двоичную, восьмеричную, шестнадцатеричную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8309" y="5697498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309" y="6051709"/>
            <a:ext cx="6409730" cy="3048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25" name="Text 23"/>
          <p:cNvSpPr/>
          <p:nvPr/>
        </p:nvSpPr>
        <p:spPr>
          <a:xfrm>
            <a:off x="7428309" y="6225778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Проверка скобок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8309" y="6715244"/>
            <a:ext cx="6409730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Валидация правильности расстановки фигурных скобок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Системы счисления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Десятичная (10)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63473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Базовая система счисления для ввода данных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Двоичная (2)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Преобразование в последовательность 0 и 1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Восьмеричная (8)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Система с основанием 8 (цифры 0-7)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41074" y="6226969"/>
            <a:ext cx="34298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Шестнадцатеричная (16)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641074" y="671738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Использует цифры 0-9 и буквы A-F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070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5914" y="3109198"/>
            <a:ext cx="6343888" cy="576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Модуль работы со строками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5914" y="4239697"/>
            <a:ext cx="6577013" cy="1363147"/>
          </a:xfrm>
          <a:prstGeom prst="roundRect">
            <a:avLst>
              <a:gd name="adj" fmla="val 805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45914" y="4216837"/>
            <a:ext cx="6577013" cy="91440"/>
          </a:xfrm>
          <a:prstGeom prst="roundRect">
            <a:avLst>
              <a:gd name="adj" fmla="val 84778"/>
            </a:avLst>
          </a:prstGeom>
          <a:solidFill>
            <a:srgbClr val="E5E5E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0" y="3962876"/>
            <a:ext cx="553641" cy="553641"/>
          </a:xfrm>
          <a:prstGeom prst="roundRect">
            <a:avLst>
              <a:gd name="adj" fmla="val 165161"/>
            </a:avLst>
          </a:prstGeom>
          <a:solidFill>
            <a:srgbClr val="E5E5E0"/>
          </a:solidFill>
          <a:ln/>
        </p:spPr>
      </p:sp>
      <p:sp>
        <p:nvSpPr>
          <p:cNvPr id="7" name="Text 4"/>
          <p:cNvSpPr/>
          <p:nvPr/>
        </p:nvSpPr>
        <p:spPr>
          <a:xfrm>
            <a:off x="3823692" y="4101227"/>
            <a:ext cx="2214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53321" y="4701064"/>
            <a:ext cx="2307074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Простые операции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3321" y="5100161"/>
            <a:ext cx="61621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Конкатенация строк (+) и умножение строки на число (*)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407473" y="4239697"/>
            <a:ext cx="6577013" cy="1363147"/>
          </a:xfrm>
          <a:prstGeom prst="roundRect">
            <a:avLst>
              <a:gd name="adj" fmla="val 805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407473" y="4216837"/>
            <a:ext cx="6577013" cy="91440"/>
          </a:xfrm>
          <a:prstGeom prst="roundRect">
            <a:avLst>
              <a:gd name="adj" fmla="val 84778"/>
            </a:avLst>
          </a:prstGeom>
          <a:solidFill>
            <a:srgbClr val="E5E5E0"/>
          </a:solidFill>
          <a:ln/>
        </p:spPr>
      </p:sp>
      <p:sp>
        <p:nvSpPr>
          <p:cNvPr id="12" name="Shape 9"/>
          <p:cNvSpPr/>
          <p:nvPr/>
        </p:nvSpPr>
        <p:spPr>
          <a:xfrm>
            <a:off x="10419159" y="3962876"/>
            <a:ext cx="553641" cy="553641"/>
          </a:xfrm>
          <a:prstGeom prst="roundRect">
            <a:avLst>
              <a:gd name="adj" fmla="val 165161"/>
            </a:avLst>
          </a:prstGeom>
          <a:solidFill>
            <a:srgbClr val="E5E5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585252" y="4101227"/>
            <a:ext cx="2214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614880" y="4701064"/>
            <a:ext cx="2307074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Форматирование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614880" y="5100161"/>
            <a:ext cx="61621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Центрирование текста для стандартного терминала 80×25 символов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45914" y="6064210"/>
            <a:ext cx="6577013" cy="1363147"/>
          </a:xfrm>
          <a:prstGeom prst="roundRect">
            <a:avLst>
              <a:gd name="adj" fmla="val 805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45914" y="6041350"/>
            <a:ext cx="6577013" cy="91440"/>
          </a:xfrm>
          <a:prstGeom prst="roundRect">
            <a:avLst>
              <a:gd name="adj" fmla="val 84778"/>
            </a:avLst>
          </a:prstGeom>
          <a:solidFill>
            <a:srgbClr val="E5E5E0"/>
          </a:solidFill>
          <a:ln/>
        </p:spPr>
      </p:sp>
      <p:sp>
        <p:nvSpPr>
          <p:cNvPr id="18" name="Shape 15"/>
          <p:cNvSpPr/>
          <p:nvPr/>
        </p:nvSpPr>
        <p:spPr>
          <a:xfrm>
            <a:off x="3657600" y="5787390"/>
            <a:ext cx="553641" cy="553641"/>
          </a:xfrm>
          <a:prstGeom prst="roundRect">
            <a:avLst>
              <a:gd name="adj" fmla="val 165161"/>
            </a:avLst>
          </a:prstGeom>
          <a:solidFill>
            <a:srgbClr val="E5E5E0"/>
          </a:solidFill>
          <a:ln/>
        </p:spPr>
      </p:sp>
      <p:sp>
        <p:nvSpPr>
          <p:cNvPr id="19" name="Text 16"/>
          <p:cNvSpPr/>
          <p:nvPr/>
        </p:nvSpPr>
        <p:spPr>
          <a:xfrm>
            <a:off x="3823692" y="5925741"/>
            <a:ext cx="2214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53321" y="6525578"/>
            <a:ext cx="2307074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Анализ слов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53321" y="6924675"/>
            <a:ext cx="61621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Подсчет общего количества слов и уникальных слов в тексте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7407473" y="6064210"/>
            <a:ext cx="6577013" cy="1363147"/>
          </a:xfrm>
          <a:prstGeom prst="roundRect">
            <a:avLst>
              <a:gd name="adj" fmla="val 805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407473" y="6041350"/>
            <a:ext cx="6577013" cy="91440"/>
          </a:xfrm>
          <a:prstGeom prst="roundRect">
            <a:avLst>
              <a:gd name="adj" fmla="val 84778"/>
            </a:avLst>
          </a:prstGeom>
          <a:solidFill>
            <a:srgbClr val="E5E5E0"/>
          </a:solidFill>
          <a:ln/>
        </p:spPr>
      </p:sp>
      <p:sp>
        <p:nvSpPr>
          <p:cNvPr id="24" name="Shape 21"/>
          <p:cNvSpPr/>
          <p:nvPr/>
        </p:nvSpPr>
        <p:spPr>
          <a:xfrm>
            <a:off x="10419159" y="5787390"/>
            <a:ext cx="553641" cy="553641"/>
          </a:xfrm>
          <a:prstGeom prst="roundRect">
            <a:avLst>
              <a:gd name="adj" fmla="val 165161"/>
            </a:avLst>
          </a:prstGeom>
          <a:solidFill>
            <a:srgbClr val="E5E5E0"/>
          </a:solidFill>
          <a:ln/>
        </p:spPr>
      </p:sp>
      <p:sp>
        <p:nvSpPr>
          <p:cNvPr id="25" name="Text 22"/>
          <p:cNvSpPr/>
          <p:nvPr/>
        </p:nvSpPr>
        <p:spPr>
          <a:xfrm>
            <a:off x="10585252" y="5925741"/>
            <a:ext cx="2214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614880" y="6525578"/>
            <a:ext cx="2406253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Статистика символов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614880" y="6924675"/>
            <a:ext cx="61621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Длина, цифры, верхний/нижний регистр, пробельные символы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454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708" y="3115866"/>
            <a:ext cx="5344716" cy="636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Длинная арифметика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2708" y="4057650"/>
            <a:ext cx="13204984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Реализация ручных алгоритмов вычислений для работы с числами произвольной длины. Каждое число представляется как массив цифр.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8103" y="5752743"/>
            <a:ext cx="3960376" cy="203597"/>
          </a:xfrm>
          <a:prstGeom prst="roundRect">
            <a:avLst>
              <a:gd name="adj" fmla="val 4201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2708" y="5549086"/>
            <a:ext cx="610910" cy="610910"/>
          </a:xfrm>
          <a:prstGeom prst="roundRect">
            <a:avLst>
              <a:gd name="adj" fmla="val 74839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65" y="5663744"/>
            <a:ext cx="305395" cy="381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6305" y="6363653"/>
            <a:ext cx="2640330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Сложение столбиком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916305" y="6803946"/>
            <a:ext cx="3858697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Поразрядное сложение с переносом разрядов, как при ручном счете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7591" y="5447228"/>
            <a:ext cx="3960376" cy="203597"/>
          </a:xfrm>
          <a:prstGeom prst="roundRect">
            <a:avLst>
              <a:gd name="adj" fmla="val 4201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182195" y="5243572"/>
            <a:ext cx="610910" cy="610910"/>
          </a:xfrm>
          <a:prstGeom prst="roundRect">
            <a:avLst>
              <a:gd name="adj" fmla="val 74839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953" y="5358229"/>
            <a:ext cx="305395" cy="3817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85792" y="6058138"/>
            <a:ext cx="2788682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Вычитание столбиком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5385792" y="6498431"/>
            <a:ext cx="3858697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Поразрядное вычитание с заимствованием из старших разрядов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9957078" y="5141833"/>
            <a:ext cx="3960495" cy="203597"/>
          </a:xfrm>
          <a:prstGeom prst="roundRect">
            <a:avLst>
              <a:gd name="adj" fmla="val 4201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651683" y="4938177"/>
            <a:ext cx="610910" cy="610910"/>
          </a:xfrm>
          <a:prstGeom prst="roundRect">
            <a:avLst>
              <a:gd name="adj" fmla="val 74839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4440" y="5052834"/>
            <a:ext cx="305395" cy="38171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55279" y="5752743"/>
            <a:ext cx="2545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Умножение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9855279" y="6193036"/>
            <a:ext cx="3858816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Умножение длинного числа на короткое с накоплением результата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94944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Командная работа и координация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Получение задания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21 индивидуальное задание различной сложности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492" y="3336369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452807"/>
            <a:ext cx="2848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Разработка функции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294322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Написание кода согласно техническому заданию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010" y="3071693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4087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Передача кода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051256" y="4578191"/>
            <a:ext cx="3785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Отправка готовой функции следующему участнику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9423" y="475845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37790" y="57228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Отчет в чат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937790" y="621327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Уведомление о выполнении с приложением кода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0564" y="6065520"/>
            <a:ext cx="339328" cy="42422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Интеграция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Объединение функций в общую систему меню</a:t>
            </a:r>
            <a:endParaRPr lang="en-US" sz="17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0595" y="5186720"/>
            <a:ext cx="339328" cy="424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151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Распределение сложности задач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86257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12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4418052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Низкая сложность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5262801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Базовые функции ввода-вывода и простые вычисления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3386257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6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4418052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Средняя сложность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5262801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Меню навигации и системы счисления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3386257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4418052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Высокая сложность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5262801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Длинная арифметика и финальная сборка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2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9373" y="549473"/>
            <a:ext cx="7745254" cy="124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Технические особенности реализации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99373" y="2098119"/>
            <a:ext cx="7745254" cy="1486019"/>
          </a:xfrm>
          <a:prstGeom prst="roundRect">
            <a:avLst>
              <a:gd name="adj" fmla="val 32274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6780" y="2305526"/>
            <a:ext cx="2497812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Модульность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06780" y="2737604"/>
            <a:ext cx="7330440" cy="63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Каждая функция имеет четкий прототип и может быть протестирована отдельно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99373" y="3783925"/>
            <a:ext cx="7745254" cy="1166455"/>
          </a:xfrm>
          <a:prstGeom prst="roundRect">
            <a:avLst>
              <a:gd name="adj" fmla="val 41116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6780" y="3991332"/>
            <a:ext cx="3298150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Проверки входных данных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06780" y="4423410"/>
            <a:ext cx="7330440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Обработка деления на ноль, валидация пользовательского ввода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9373" y="5150168"/>
            <a:ext cx="7745254" cy="1166455"/>
          </a:xfrm>
          <a:prstGeom prst="roundRect">
            <a:avLst>
              <a:gd name="adj" fmla="val 41116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6780" y="5357574"/>
            <a:ext cx="3673554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Пользовательский интерфейс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06780" y="5789652"/>
            <a:ext cx="7330440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Интуитивные меню с числовым выбором опций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99373" y="6516410"/>
            <a:ext cx="7745254" cy="1166455"/>
          </a:xfrm>
          <a:prstGeom prst="roundRect">
            <a:avLst>
              <a:gd name="adj" fmla="val 41116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6780" y="6723817"/>
            <a:ext cx="2497812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Расширяемость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06780" y="7155894"/>
            <a:ext cx="7330440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Архитектура позволяет легко добавлять новые функции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3062" y="536615"/>
            <a:ext cx="4879062" cy="609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Итоги проекта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3062" y="1536740"/>
            <a:ext cx="13264277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 7 дней командной работы мы создали полнофункциональный калькулятор, объединивший усилия всех участников команды.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12106" y="3336846"/>
            <a:ext cx="2400419" cy="487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21</a:t>
            </a:r>
            <a:endParaRPr lang="en-US" sz="3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2117169"/>
            <a:ext cx="2927390" cy="2927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92699" y="5288399"/>
            <a:ext cx="2439472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Задач выполнено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3062" y="5710357"/>
            <a:ext cx="4258866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Все функции успешно реализованы и интегрированы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14812" y="3336846"/>
            <a:ext cx="2400419" cy="487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3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446" y="2117169"/>
            <a:ext cx="2927390" cy="2927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69211" y="5288399"/>
            <a:ext cx="249185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Модуля разработано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5185767" y="5710357"/>
            <a:ext cx="4258866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Каждый модуль работает автономно и в составе системы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617518" y="3336846"/>
            <a:ext cx="2400419" cy="487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100%</a:t>
            </a:r>
            <a:endParaRPr lang="en-US" sz="3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4151" y="2117169"/>
            <a:ext cx="2927390" cy="2927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60700" y="5288399"/>
            <a:ext cx="2914412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Тестирование пройдено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9688473" y="5710357"/>
            <a:ext cx="4258866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Все функции протестированы на корректность работы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83062" y="6554272"/>
            <a:ext cx="13264277" cy="1141333"/>
          </a:xfrm>
          <a:prstGeom prst="roundRect">
            <a:avLst>
              <a:gd name="adj" fmla="val 7182"/>
            </a:avLst>
          </a:prstGeom>
          <a:solidFill>
            <a:srgbClr val="DCDCD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05" y="6855857"/>
            <a:ext cx="243840" cy="1951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7188" y="6798112"/>
            <a:ext cx="12435007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highlight>
                  <a:srgbClr val="E5E5E0"/>
                </a:highlight>
                <a:latin typeface="Lato" pitchFamily="34" charset="0"/>
                <a:ea typeface="Lato" pitchFamily="34" charset="-122"/>
                <a:cs typeface="Lato" pitchFamily="34" charset="-120"/>
              </a:rPr>
              <a:t>Результат: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готовое приложение, демонстрирующее навыки командной разработки, модульного программирования и комплексного тестирования.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2025-09-27T10:33:03Z</dcterms:created>
  <dcterms:modified xsi:type="dcterms:W3CDTF">2025-09-27T10:33:03Z</dcterms:modified>
</cp:coreProperties>
</file>